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9" r:id="rId2"/>
  </p:sldIdLst>
  <p:sldSz cx="146304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2EB3B2-F9E4-480E-96A1-2475A09CCDC3}" v="6" dt="2026-03-23T08:34:03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1" d="100"/>
          <a:sy n="41" d="100"/>
        </p:scale>
        <p:origin x="13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Said" userId="91bcd02bde00d497" providerId="LiveId" clId="{08D7B98F-357E-42D0-B460-1CEC5F9CC78B}"/>
    <pc:docChg chg="undo custSel modSld">
      <pc:chgData name="Mohamed Said" userId="91bcd02bde00d497" providerId="LiveId" clId="{08D7B98F-357E-42D0-B460-1CEC5F9CC78B}" dt="2026-03-23T08:36:31.174" v="158" actId="14100"/>
      <pc:docMkLst>
        <pc:docMk/>
      </pc:docMkLst>
      <pc:sldChg chg="modSp mod">
        <pc:chgData name="Mohamed Said" userId="91bcd02bde00d497" providerId="LiveId" clId="{08D7B98F-357E-42D0-B460-1CEC5F9CC78B}" dt="2026-03-23T08:36:31.174" v="158" actId="14100"/>
        <pc:sldMkLst>
          <pc:docMk/>
          <pc:sldMk cId="2783961507" sldId="259"/>
        </pc:sldMkLst>
        <pc:spChg chg="mod">
          <ac:chgData name="Mohamed Said" userId="91bcd02bde00d497" providerId="LiveId" clId="{08D7B98F-357E-42D0-B460-1CEC5F9CC78B}" dt="2026-03-23T08:33:47.155" v="78" actId="2710"/>
          <ac:spMkLst>
            <pc:docMk/>
            <pc:sldMk cId="2783961507" sldId="259"/>
            <ac:spMk id="3" creationId="{FD113131-474F-E584-A440-FCD3BBDF768F}"/>
          </ac:spMkLst>
        </pc:spChg>
        <pc:spChg chg="mod">
          <ac:chgData name="Mohamed Said" userId="91bcd02bde00d497" providerId="LiveId" clId="{08D7B98F-357E-42D0-B460-1CEC5F9CC78B}" dt="2026-03-23T08:35:14.400" v="130" actId="1036"/>
          <ac:spMkLst>
            <pc:docMk/>
            <pc:sldMk cId="2783961507" sldId="259"/>
            <ac:spMk id="4" creationId="{D8B4FA12-56A9-DDF9-97E5-1699ECC04818}"/>
          </ac:spMkLst>
        </pc:spChg>
        <pc:spChg chg="mod">
          <ac:chgData name="Mohamed Said" userId="91bcd02bde00d497" providerId="LiveId" clId="{08D7B98F-357E-42D0-B460-1CEC5F9CC78B}" dt="2026-03-23T08:33:54.267" v="85" actId="1035"/>
          <ac:spMkLst>
            <pc:docMk/>
            <pc:sldMk cId="2783961507" sldId="259"/>
            <ac:spMk id="5" creationId="{80D4A6CE-997C-95DD-20E0-E7AF9EECCFF5}"/>
          </ac:spMkLst>
        </pc:spChg>
        <pc:spChg chg="mod">
          <ac:chgData name="Mohamed Said" userId="91bcd02bde00d497" providerId="LiveId" clId="{08D7B98F-357E-42D0-B460-1CEC5F9CC78B}" dt="2026-03-23T08:29:55.402" v="33" actId="1076"/>
          <ac:spMkLst>
            <pc:docMk/>
            <pc:sldMk cId="2783961507" sldId="259"/>
            <ac:spMk id="7" creationId="{AD78BBE7-9399-12E3-EAB2-735FA22F752E}"/>
          </ac:spMkLst>
        </pc:spChg>
        <pc:spChg chg="mod">
          <ac:chgData name="Mohamed Said" userId="91bcd02bde00d497" providerId="LiveId" clId="{08D7B98F-357E-42D0-B460-1CEC5F9CC78B}" dt="2026-03-23T08:30:15.045" v="39" actId="1076"/>
          <ac:spMkLst>
            <pc:docMk/>
            <pc:sldMk cId="2783961507" sldId="259"/>
            <ac:spMk id="12" creationId="{28D3EA14-7683-4E09-9B06-4CD969003FA8}"/>
          </ac:spMkLst>
        </pc:spChg>
        <pc:spChg chg="mod">
          <ac:chgData name="Mohamed Said" userId="91bcd02bde00d497" providerId="LiveId" clId="{08D7B98F-357E-42D0-B460-1CEC5F9CC78B}" dt="2026-03-23T08:35:50.561" v="153" actId="20577"/>
          <ac:spMkLst>
            <pc:docMk/>
            <pc:sldMk cId="2783961507" sldId="259"/>
            <ac:spMk id="13" creationId="{983D5D91-39B0-CABA-F822-D3CC7688CEB4}"/>
          </ac:spMkLst>
        </pc:spChg>
        <pc:spChg chg="mod">
          <ac:chgData name="Mohamed Said" userId="91bcd02bde00d497" providerId="LiveId" clId="{08D7B98F-357E-42D0-B460-1CEC5F9CC78B}" dt="2026-03-23T08:30:15.831" v="42" actId="122"/>
          <ac:spMkLst>
            <pc:docMk/>
            <pc:sldMk cId="2783961507" sldId="259"/>
            <ac:spMk id="14" creationId="{267AB011-B71D-5353-2FFE-AD84C59855AE}"/>
          </ac:spMkLst>
        </pc:spChg>
        <pc:spChg chg="mod">
          <ac:chgData name="Mohamed Said" userId="91bcd02bde00d497" providerId="LiveId" clId="{08D7B98F-357E-42D0-B460-1CEC5F9CC78B}" dt="2026-03-23T08:33:22.479" v="73" actId="21"/>
          <ac:spMkLst>
            <pc:docMk/>
            <pc:sldMk cId="2783961507" sldId="259"/>
            <ac:spMk id="20" creationId="{748612B8-AAB7-9751-7BE8-18AF16A88E9E}"/>
          </ac:spMkLst>
        </pc:spChg>
        <pc:spChg chg="mod">
          <ac:chgData name="Mohamed Said" userId="91bcd02bde00d497" providerId="LiveId" clId="{08D7B98F-357E-42D0-B460-1CEC5F9CC78B}" dt="2026-03-23T08:36:24.279" v="156" actId="14100"/>
          <ac:spMkLst>
            <pc:docMk/>
            <pc:sldMk cId="2783961507" sldId="259"/>
            <ac:spMk id="21" creationId="{E900823B-4F79-0285-CBB7-52DCA2E880D5}"/>
          </ac:spMkLst>
        </pc:spChg>
        <pc:spChg chg="mod">
          <ac:chgData name="Mohamed Said" userId="91bcd02bde00d497" providerId="LiveId" clId="{08D7B98F-357E-42D0-B460-1CEC5F9CC78B}" dt="2026-03-23T08:36:31.174" v="158" actId="14100"/>
          <ac:spMkLst>
            <pc:docMk/>
            <pc:sldMk cId="2783961507" sldId="259"/>
            <ac:spMk id="22" creationId="{A2566F43-27F6-4461-C1C9-63A7BB9E1E5F}"/>
          </ac:spMkLst>
        </pc:spChg>
        <pc:spChg chg="mod">
          <ac:chgData name="Mohamed Said" userId="91bcd02bde00d497" providerId="LiveId" clId="{08D7B98F-357E-42D0-B460-1CEC5F9CC78B}" dt="2026-03-23T08:35:19.395" v="136" actId="1035"/>
          <ac:spMkLst>
            <pc:docMk/>
            <pc:sldMk cId="2783961507" sldId="259"/>
            <ac:spMk id="23" creationId="{5D60665A-BD92-DDF9-72A3-FB3D4E1C3FED}"/>
          </ac:spMkLst>
        </pc:spChg>
        <pc:spChg chg="mod">
          <ac:chgData name="Mohamed Said" userId="91bcd02bde00d497" providerId="LiveId" clId="{08D7B98F-357E-42D0-B460-1CEC5F9CC78B}" dt="2026-03-23T08:35:30.945" v="149" actId="1037"/>
          <ac:spMkLst>
            <pc:docMk/>
            <pc:sldMk cId="2783961507" sldId="259"/>
            <ac:spMk id="33" creationId="{44A786AA-9C35-412C-4698-C99ED7D9D510}"/>
          </ac:spMkLst>
        </pc:spChg>
        <pc:spChg chg="mod">
          <ac:chgData name="Mohamed Said" userId="91bcd02bde00d497" providerId="LiveId" clId="{08D7B98F-357E-42D0-B460-1CEC5F9CC78B}" dt="2026-03-23T08:32:56.754" v="60" actId="14100"/>
          <ac:spMkLst>
            <pc:docMk/>
            <pc:sldMk cId="2783961507" sldId="259"/>
            <ac:spMk id="34" creationId="{22086815-90C1-8D0A-9B2C-C13CC1D4A2DB}"/>
          </ac:spMkLst>
        </pc:spChg>
        <pc:spChg chg="mod">
          <ac:chgData name="Mohamed Said" userId="91bcd02bde00d497" providerId="LiveId" clId="{08D7B98F-357E-42D0-B460-1CEC5F9CC78B}" dt="2026-03-23T08:31:44.954" v="49" actId="1037"/>
          <ac:spMkLst>
            <pc:docMk/>
            <pc:sldMk cId="2783961507" sldId="259"/>
            <ac:spMk id="40" creationId="{0DA7E42C-B974-8988-A912-FD918E8C6D21}"/>
          </ac:spMkLst>
        </pc:spChg>
        <pc:spChg chg="mod">
          <ac:chgData name="Mohamed Said" userId="91bcd02bde00d497" providerId="LiveId" clId="{08D7B98F-357E-42D0-B460-1CEC5F9CC78B}" dt="2026-03-23T08:34:48.196" v="126" actId="14100"/>
          <ac:spMkLst>
            <pc:docMk/>
            <pc:sldMk cId="2783961507" sldId="259"/>
            <ac:spMk id="44" creationId="{A8CA2323-53C9-A746-2285-F4EB3CB4BEBB}"/>
          </ac:spMkLst>
        </pc:spChg>
        <pc:spChg chg="mod">
          <ac:chgData name="Mohamed Said" userId="91bcd02bde00d497" providerId="LiveId" clId="{08D7B98F-357E-42D0-B460-1CEC5F9CC78B}" dt="2026-03-23T08:34:48.196" v="126" actId="14100"/>
          <ac:spMkLst>
            <pc:docMk/>
            <pc:sldMk cId="2783961507" sldId="259"/>
            <ac:spMk id="46" creationId="{40107BAD-9013-BC0C-8A7B-A5705CFC1AD1}"/>
          </ac:spMkLst>
        </pc:spChg>
        <pc:spChg chg="mod">
          <ac:chgData name="Mohamed Said" userId="91bcd02bde00d497" providerId="LiveId" clId="{08D7B98F-357E-42D0-B460-1CEC5F9CC78B}" dt="2026-03-23T08:34:48.196" v="126" actId="14100"/>
          <ac:spMkLst>
            <pc:docMk/>
            <pc:sldMk cId="2783961507" sldId="259"/>
            <ac:spMk id="48" creationId="{524ED7D9-AB53-C43B-B29C-C244806688AB}"/>
          </ac:spMkLst>
        </pc:spChg>
        <pc:picChg chg="mod">
          <ac:chgData name="Mohamed Said" userId="91bcd02bde00d497" providerId="LiveId" clId="{08D7B98F-357E-42D0-B460-1CEC5F9CC78B}" dt="2026-03-23T08:34:53.229" v="127" actId="14100"/>
          <ac:picMkLst>
            <pc:docMk/>
            <pc:sldMk cId="2783961507" sldId="259"/>
            <ac:picMk id="8" creationId="{E70ABBFF-FE7F-003D-4F3A-1F360A95D7F4}"/>
          </ac:picMkLst>
        </pc:picChg>
        <pc:picChg chg="mod">
          <ac:chgData name="Mohamed Said" userId="91bcd02bde00d497" providerId="LiveId" clId="{08D7B98F-357E-42D0-B460-1CEC5F9CC78B}" dt="2026-03-23T08:35:22.307" v="137" actId="14100"/>
          <ac:picMkLst>
            <pc:docMk/>
            <pc:sldMk cId="2783961507" sldId="259"/>
            <ac:picMk id="29" creationId="{8963C605-474E-5684-2C6C-EFFD6516BC4E}"/>
          </ac:picMkLst>
        </pc:picChg>
        <pc:picChg chg="mod">
          <ac:chgData name="Mohamed Said" userId="91bcd02bde00d497" providerId="LiveId" clId="{08D7B98F-357E-42D0-B460-1CEC5F9CC78B}" dt="2026-03-23T08:33:00.795" v="61" actId="14100"/>
          <ac:picMkLst>
            <pc:docMk/>
            <pc:sldMk cId="2783961507" sldId="259"/>
            <ac:picMk id="39" creationId="{D9590BC2-5D15-2516-5784-E19025D66288}"/>
          </ac:picMkLst>
        </pc:picChg>
        <pc:picChg chg="mod">
          <ac:chgData name="Mohamed Said" userId="91bcd02bde00d497" providerId="LiveId" clId="{08D7B98F-357E-42D0-B460-1CEC5F9CC78B}" dt="2026-03-23T08:34:03.682" v="88" actId="14100"/>
          <ac:picMkLst>
            <pc:docMk/>
            <pc:sldMk cId="2783961507" sldId="259"/>
            <ac:picMk id="49" creationId="{3058D9ED-F027-6002-4607-58D1BBA4241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A5124-14C6-4206-9DCE-A40B9CD55B2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3593-41B1-4109-9A01-358E660F3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23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1pPr>
    <a:lvl2pPr marL="526694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2pPr>
    <a:lvl3pPr marL="1053389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3pPr>
    <a:lvl4pPr marL="1580083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4pPr>
    <a:lvl5pPr marL="2106778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5pPr>
    <a:lvl6pPr marL="2633472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6pPr>
    <a:lvl7pPr marL="3160166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7pPr>
    <a:lvl8pPr marL="3686861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8pPr>
    <a:lvl9pPr marL="4213555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33593-41B1-4109-9A01-358E660F3C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32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795781"/>
            <a:ext cx="12435840" cy="3820160"/>
          </a:xfrm>
        </p:spPr>
        <p:txBody>
          <a:bodyPr anchor="b"/>
          <a:lstStyle>
            <a:lvl1pPr algn="ctr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763261"/>
            <a:ext cx="10972800" cy="2649219"/>
          </a:xfrm>
        </p:spPr>
        <p:txBody>
          <a:bodyPr/>
          <a:lstStyle>
            <a:lvl1pPr marL="0" indent="0" algn="ctr">
              <a:buNone/>
              <a:defRPr sz="3840"/>
            </a:lvl1pPr>
            <a:lvl2pPr marL="731520" indent="0" algn="ctr">
              <a:buNone/>
              <a:defRPr sz="3200"/>
            </a:lvl2pPr>
            <a:lvl3pPr marL="1463040" indent="0" algn="ctr">
              <a:buNone/>
              <a:defRPr sz="2880"/>
            </a:lvl3pPr>
            <a:lvl4pPr marL="2194560" indent="0" algn="ctr">
              <a:buNone/>
              <a:defRPr sz="2560"/>
            </a:lvl4pPr>
            <a:lvl5pPr marL="2926080" indent="0" algn="ctr">
              <a:buNone/>
              <a:defRPr sz="2560"/>
            </a:lvl5pPr>
            <a:lvl6pPr marL="3657600" indent="0" algn="ctr">
              <a:buNone/>
              <a:defRPr sz="2560"/>
            </a:lvl6pPr>
            <a:lvl7pPr marL="4389120" indent="0" algn="ctr">
              <a:buNone/>
              <a:defRPr sz="2560"/>
            </a:lvl7pPr>
            <a:lvl8pPr marL="5120640" indent="0" algn="ctr">
              <a:buNone/>
              <a:defRPr sz="2560"/>
            </a:lvl8pPr>
            <a:lvl9pPr marL="5852160" indent="0" algn="ctr">
              <a:buNone/>
              <a:defRPr sz="2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E8C7-2553-415D-B3F5-8B170C2215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3B869-DC4D-4CBA-8336-E37C09C39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3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E8C7-2553-415D-B3F5-8B170C2215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3B869-DC4D-4CBA-8336-E37C09C39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34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735583"/>
            <a:ext cx="12618720" cy="4564379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7343143"/>
            <a:ext cx="12618720" cy="2400299"/>
          </a:xfrm>
        </p:spPr>
        <p:txBody>
          <a:bodyPr/>
          <a:lstStyle>
            <a:lvl1pPr marL="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1pPr>
            <a:lvl2pPr marL="73152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2pPr>
            <a:lvl3pPr marL="146304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3pPr>
            <a:lvl4pPr marL="21945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4pPr>
            <a:lvl5pPr marL="292608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5pPr>
            <a:lvl6pPr marL="365760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6pPr>
            <a:lvl7pPr marL="438912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7pPr>
            <a:lvl8pPr marL="512064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8pPr>
            <a:lvl9pPr marL="58521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E8C7-2553-415D-B3F5-8B170C2215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3B869-DC4D-4CBA-8336-E37C09C39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921000"/>
            <a:ext cx="621792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921000"/>
            <a:ext cx="621792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E8C7-2553-415D-B3F5-8B170C2215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3B869-DC4D-4CBA-8336-E37C09C39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450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84202"/>
            <a:ext cx="1261872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7" y="2689861"/>
            <a:ext cx="6189344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7" y="4008120"/>
            <a:ext cx="6189344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1" y="2689861"/>
            <a:ext cx="6219826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1" y="4008120"/>
            <a:ext cx="6219826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E8C7-2553-415D-B3F5-8B170C2215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3B869-DC4D-4CBA-8336-E37C09C39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88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E8C7-2553-415D-B3F5-8B170C2215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3B869-DC4D-4CBA-8336-E37C09C39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8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E8C7-2553-415D-B3F5-8B170C2215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3B869-DC4D-4CBA-8336-E37C09C39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67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731520"/>
            <a:ext cx="4718685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579882"/>
            <a:ext cx="7406640" cy="7797800"/>
          </a:xfrm>
        </p:spPr>
        <p:txBody>
          <a:bodyPr/>
          <a:lstStyle>
            <a:lvl1pPr>
              <a:defRPr sz="5120"/>
            </a:lvl1pPr>
            <a:lvl2pPr>
              <a:defRPr sz="4480"/>
            </a:lvl2pPr>
            <a:lvl3pPr>
              <a:defRPr sz="384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291840"/>
            <a:ext cx="4718685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E8C7-2553-415D-B3F5-8B170C2215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3B869-DC4D-4CBA-8336-E37C09C39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06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731520"/>
            <a:ext cx="4718685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579882"/>
            <a:ext cx="7406640" cy="7797800"/>
          </a:xfrm>
        </p:spPr>
        <p:txBody>
          <a:bodyPr anchor="t"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291840"/>
            <a:ext cx="4718685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E8C7-2553-415D-B3F5-8B170C2215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3B869-DC4D-4CBA-8336-E37C09C39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14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E8C7-2553-415D-B3F5-8B170C2215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3B869-DC4D-4CBA-8336-E37C09C39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33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584200"/>
            <a:ext cx="3154680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1" y="584200"/>
            <a:ext cx="9281160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E8C7-2553-415D-B3F5-8B170C2215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3B869-DC4D-4CBA-8336-E37C09C39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09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584202"/>
            <a:ext cx="1261872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921000"/>
            <a:ext cx="1261872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10170162"/>
            <a:ext cx="329184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C6E8C7-2553-415D-B3F5-8B170C2215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10170162"/>
            <a:ext cx="493776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10170162"/>
            <a:ext cx="329184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33B869-DC4D-4CBA-8336-E37C09C39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4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4;p13">
            <a:extLst>
              <a:ext uri="{FF2B5EF4-FFF2-40B4-BE49-F238E27FC236}">
                <a16:creationId xmlns:a16="http://schemas.microsoft.com/office/drawing/2014/main" id="{7A77C2F7-534A-04EE-881F-D3874653736A}"/>
              </a:ext>
            </a:extLst>
          </p:cNvPr>
          <p:cNvSpPr txBox="1"/>
          <p:nvPr/>
        </p:nvSpPr>
        <p:spPr>
          <a:xfrm>
            <a:off x="279401" y="1648961"/>
            <a:ext cx="49657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000" b="1" dirty="0">
                <a:solidFill>
                  <a:srgbClr val="00204E"/>
                </a:solidFill>
                <a:latin typeface="Merriweather"/>
                <a:ea typeface="Merriweather"/>
                <a:cs typeface="Merriweather"/>
                <a:sym typeface="Merriweather"/>
              </a:rPr>
              <a:t>The Environmental Issue: </a:t>
            </a:r>
            <a:r>
              <a:rPr lang="en-US" sz="1400" b="1" dirty="0">
                <a:solidFill>
                  <a:srgbClr val="00204E"/>
                </a:solidFill>
                <a:latin typeface="Merriweather"/>
                <a:ea typeface="Merriweather"/>
                <a:cs typeface="Merriweather"/>
                <a:sym typeface="Merriweather"/>
              </a:rPr>
              <a:t>Climate Variability Threatens Somalia’s Livestock Economy</a:t>
            </a:r>
            <a:endParaRPr sz="2000" dirty="0"/>
          </a:p>
        </p:txBody>
      </p:sp>
      <p:sp>
        <p:nvSpPr>
          <p:cNvPr id="3" name="Google Shape;99;p13">
            <a:extLst>
              <a:ext uri="{FF2B5EF4-FFF2-40B4-BE49-F238E27FC236}">
                <a16:creationId xmlns:a16="http://schemas.microsoft.com/office/drawing/2014/main" id="{FD113131-474F-E584-A440-FCD3BBDF768F}"/>
              </a:ext>
            </a:extLst>
          </p:cNvPr>
          <p:cNvSpPr txBox="1"/>
          <p:nvPr/>
        </p:nvSpPr>
        <p:spPr>
          <a:xfrm>
            <a:off x="304800" y="2363960"/>
            <a:ext cx="4584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04E"/>
                </a:solidFill>
                <a:latin typeface="DM Sans"/>
                <a:ea typeface="DM Sans"/>
                <a:cs typeface="DM Sans"/>
                <a:sym typeface="DM Sans"/>
              </a:rPr>
              <a:t>Livestock account for </a:t>
            </a:r>
            <a:r>
              <a:rPr lang="en-US" sz="1400" b="1" dirty="0">
                <a:solidFill>
                  <a:srgbClr val="00204E"/>
                </a:solidFill>
                <a:latin typeface="DM Sans"/>
                <a:ea typeface="DM Sans"/>
                <a:cs typeface="DM Sans"/>
                <a:sym typeface="DM Sans"/>
              </a:rPr>
              <a:t>80% of exports</a:t>
            </a:r>
            <a:r>
              <a:rPr lang="en-US" sz="1400" dirty="0">
                <a:solidFill>
                  <a:srgbClr val="00204E"/>
                </a:solidFill>
                <a:latin typeface="DM Sans"/>
                <a:ea typeface="DM Sans"/>
                <a:cs typeface="DM Sans"/>
                <a:sym typeface="DM Sans"/>
              </a:rPr>
              <a:t> and underpin pastoral livelihoods.</a:t>
            </a:r>
            <a:endParaRPr sz="2400" dirty="0"/>
          </a:p>
        </p:txBody>
      </p:sp>
      <p:sp>
        <p:nvSpPr>
          <p:cNvPr id="4" name="Google Shape;101;p13">
            <a:extLst>
              <a:ext uri="{FF2B5EF4-FFF2-40B4-BE49-F238E27FC236}">
                <a16:creationId xmlns:a16="http://schemas.microsoft.com/office/drawing/2014/main" id="{D8B4FA12-56A9-DDF9-97E5-1699ECC04818}"/>
              </a:ext>
            </a:extLst>
          </p:cNvPr>
          <p:cNvSpPr txBox="1"/>
          <p:nvPr/>
        </p:nvSpPr>
        <p:spPr>
          <a:xfrm>
            <a:off x="307975" y="2900696"/>
            <a:ext cx="4584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04E"/>
                </a:solidFill>
                <a:latin typeface="DM Sans"/>
                <a:ea typeface="DM Sans"/>
                <a:cs typeface="DM Sans"/>
                <a:sym typeface="DM Sans"/>
              </a:rPr>
              <a:t>Somalia experiences extreme rainfall variability and frequent droughts.</a:t>
            </a:r>
            <a:endParaRPr sz="2400" dirty="0"/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80D4A6CE-997C-95DD-20E0-E7AF9EECCFF5}"/>
              </a:ext>
            </a:extLst>
          </p:cNvPr>
          <p:cNvSpPr txBox="1"/>
          <p:nvPr/>
        </p:nvSpPr>
        <p:spPr>
          <a:xfrm>
            <a:off x="304800" y="3431622"/>
            <a:ext cx="4584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04E"/>
                </a:solidFill>
                <a:latin typeface="DM Sans"/>
                <a:ea typeface="DM Sans"/>
                <a:cs typeface="DM Sans"/>
                <a:sym typeface="DM Sans"/>
              </a:rPr>
              <a:t>Environmental shocks destabilize pasture availability and herd survival.</a:t>
            </a:r>
            <a:endParaRPr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0ABBFF-FE7F-003D-4F3A-1F360A95D7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20" y="7921313"/>
            <a:ext cx="6678434" cy="2944652"/>
          </a:xfrm>
          <a:prstGeom prst="rect">
            <a:avLst/>
          </a:prstGeom>
        </p:spPr>
      </p:pic>
      <p:sp>
        <p:nvSpPr>
          <p:cNvPr id="12" name="Google Shape;89;p13">
            <a:extLst>
              <a:ext uri="{FF2B5EF4-FFF2-40B4-BE49-F238E27FC236}">
                <a16:creationId xmlns:a16="http://schemas.microsoft.com/office/drawing/2014/main" id="{28D3EA14-7683-4E09-9B06-4CD969003FA8}"/>
              </a:ext>
            </a:extLst>
          </p:cNvPr>
          <p:cNvSpPr txBox="1"/>
          <p:nvPr/>
        </p:nvSpPr>
        <p:spPr>
          <a:xfrm>
            <a:off x="497434" y="204111"/>
            <a:ext cx="10319723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000" b="1" dirty="0">
                <a:solidFill>
                  <a:srgbClr val="00204E"/>
                </a:solidFill>
                <a:latin typeface="Merriweather"/>
                <a:ea typeface="Merriweather"/>
                <a:cs typeface="Merriweather"/>
                <a:sym typeface="Merriweather"/>
              </a:rPr>
              <a:t>Climate Livestock Dynamics in Somalia</a:t>
            </a:r>
            <a:endParaRPr sz="2000" dirty="0"/>
          </a:p>
        </p:txBody>
      </p:sp>
      <p:sp>
        <p:nvSpPr>
          <p:cNvPr id="13" name="Google Shape;90;p13">
            <a:extLst>
              <a:ext uri="{FF2B5EF4-FFF2-40B4-BE49-F238E27FC236}">
                <a16:creationId xmlns:a16="http://schemas.microsoft.com/office/drawing/2014/main" id="{983D5D91-39B0-CABA-F822-D3CC7688CEB4}"/>
              </a:ext>
            </a:extLst>
          </p:cNvPr>
          <p:cNvSpPr txBox="1"/>
          <p:nvPr/>
        </p:nvSpPr>
        <p:spPr>
          <a:xfrm>
            <a:off x="497434" y="823235"/>
            <a:ext cx="11049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dirty="0">
                <a:solidFill>
                  <a:srgbClr val="00204E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Rainfall Trends and Shifts in Pastoral Livestock Stock Across Somalia (1981–2024)</a:t>
            </a:r>
          </a:p>
        </p:txBody>
      </p:sp>
      <p:sp>
        <p:nvSpPr>
          <p:cNvPr id="14" name="Google Shape;91;p13">
            <a:extLst>
              <a:ext uri="{FF2B5EF4-FFF2-40B4-BE49-F238E27FC236}">
                <a16:creationId xmlns:a16="http://schemas.microsoft.com/office/drawing/2014/main" id="{267AB011-B71D-5353-2FFE-AD84C59855AE}"/>
              </a:ext>
            </a:extLst>
          </p:cNvPr>
          <p:cNvSpPr txBox="1"/>
          <p:nvPr/>
        </p:nvSpPr>
        <p:spPr>
          <a:xfrm>
            <a:off x="497434" y="1118510"/>
            <a:ext cx="11049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400" b="1" dirty="0">
                <a:solidFill>
                  <a:srgbClr val="0050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DM Sans"/>
              </a:rPr>
              <a:t>MOHAMED SAID | ENVIRONMENTAL DATA SCIENCE CAPSTONE| YALE SCHOOL OF THE ENVIRONMENT, YALE UNIVERSITY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Google Shape;132;p14">
            <a:extLst>
              <a:ext uri="{FF2B5EF4-FFF2-40B4-BE49-F238E27FC236}">
                <a16:creationId xmlns:a16="http://schemas.microsoft.com/office/drawing/2014/main" id="{394FD9DE-97F0-49ED-77A0-D30BF5C84EBB}"/>
              </a:ext>
            </a:extLst>
          </p:cNvPr>
          <p:cNvSpPr/>
          <p:nvPr/>
        </p:nvSpPr>
        <p:spPr>
          <a:xfrm>
            <a:off x="381869" y="2297667"/>
            <a:ext cx="3840480" cy="914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17CE9A-8ECC-5F90-71C7-DC20D6E7A995}"/>
              </a:ext>
            </a:extLst>
          </p:cNvPr>
          <p:cNvSpPr/>
          <p:nvPr/>
        </p:nvSpPr>
        <p:spPr>
          <a:xfrm>
            <a:off x="114302" y="1392027"/>
            <a:ext cx="5130801" cy="62636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95;p13">
            <a:extLst>
              <a:ext uri="{FF2B5EF4-FFF2-40B4-BE49-F238E27FC236}">
                <a16:creationId xmlns:a16="http://schemas.microsoft.com/office/drawing/2014/main" id="{748612B8-AAB7-9751-7BE8-18AF16A88E9E}"/>
              </a:ext>
            </a:extLst>
          </p:cNvPr>
          <p:cNvSpPr txBox="1"/>
          <p:nvPr/>
        </p:nvSpPr>
        <p:spPr>
          <a:xfrm>
            <a:off x="5683154" y="1671992"/>
            <a:ext cx="362594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b="1" dirty="0">
                <a:solidFill>
                  <a:srgbClr val="00204E"/>
                </a:solidFill>
                <a:latin typeface="Merriweather"/>
                <a:ea typeface="Merriweather"/>
                <a:cs typeface="Merriweather"/>
                <a:sym typeface="Merriweather"/>
              </a:rPr>
              <a:t>Data &amp; Methods</a:t>
            </a:r>
            <a:endParaRPr dirty="0"/>
          </a:p>
        </p:txBody>
      </p:sp>
      <p:sp>
        <p:nvSpPr>
          <p:cNvPr id="21" name="Google Shape;107;p13">
            <a:extLst>
              <a:ext uri="{FF2B5EF4-FFF2-40B4-BE49-F238E27FC236}">
                <a16:creationId xmlns:a16="http://schemas.microsoft.com/office/drawing/2014/main" id="{E900823B-4F79-0285-CBB7-52DCA2E880D5}"/>
              </a:ext>
            </a:extLst>
          </p:cNvPr>
          <p:cNvSpPr txBox="1"/>
          <p:nvPr/>
        </p:nvSpPr>
        <p:spPr>
          <a:xfrm>
            <a:off x="5549804" y="2129849"/>
            <a:ext cx="433068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204E"/>
                </a:solidFill>
                <a:latin typeface="DM Sans"/>
                <a:ea typeface="DM Sans"/>
                <a:cs typeface="DM Sans"/>
                <a:sym typeface="DM Sans"/>
              </a:rPr>
              <a:t>CHIRPS satellite rainfall (1981–2024) combined with FAOSTAT livestock data.</a:t>
            </a:r>
            <a:endParaRPr sz="2400" b="1" dirty="0"/>
          </a:p>
        </p:txBody>
      </p:sp>
      <p:sp>
        <p:nvSpPr>
          <p:cNvPr id="22" name="Google Shape;109;p13">
            <a:extLst>
              <a:ext uri="{FF2B5EF4-FFF2-40B4-BE49-F238E27FC236}">
                <a16:creationId xmlns:a16="http://schemas.microsoft.com/office/drawing/2014/main" id="{A2566F43-27F6-4461-C1C9-63A7BB9E1E5F}"/>
              </a:ext>
            </a:extLst>
          </p:cNvPr>
          <p:cNvSpPr txBox="1"/>
          <p:nvPr/>
        </p:nvSpPr>
        <p:spPr>
          <a:xfrm>
            <a:off x="5549804" y="2623385"/>
            <a:ext cx="41656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204E"/>
                </a:solidFill>
                <a:latin typeface="DM Sans"/>
                <a:ea typeface="DM Sans"/>
                <a:cs typeface="DM Sans"/>
                <a:sym typeface="DM Sans"/>
              </a:rPr>
              <a:t>R spatial analysis used to map rainfall variability across Somalia.</a:t>
            </a:r>
            <a:endParaRPr sz="2400" b="1" dirty="0"/>
          </a:p>
        </p:txBody>
      </p:sp>
      <p:sp>
        <p:nvSpPr>
          <p:cNvPr id="23" name="Google Shape;111;p13">
            <a:extLst>
              <a:ext uri="{FF2B5EF4-FFF2-40B4-BE49-F238E27FC236}">
                <a16:creationId xmlns:a16="http://schemas.microsoft.com/office/drawing/2014/main" id="{5D60665A-BD92-DDF9-72A3-FB3D4E1C3FED}"/>
              </a:ext>
            </a:extLst>
          </p:cNvPr>
          <p:cNvSpPr txBox="1"/>
          <p:nvPr/>
        </p:nvSpPr>
        <p:spPr>
          <a:xfrm>
            <a:off x="5549804" y="3133997"/>
            <a:ext cx="41656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204E"/>
                </a:solidFill>
                <a:latin typeface="DM Sans"/>
                <a:ea typeface="DM Sans"/>
                <a:cs typeface="DM Sans"/>
                <a:sym typeface="DM Sans"/>
              </a:rPr>
              <a:t>Generalized Additive Models (GAMs) used to test climate–livestock relationships.</a:t>
            </a:r>
            <a:endParaRPr sz="2400" b="1" dirty="0"/>
          </a:p>
        </p:txBody>
      </p:sp>
      <p:sp>
        <p:nvSpPr>
          <p:cNvPr id="26" name="Google Shape;132;p14">
            <a:extLst>
              <a:ext uri="{FF2B5EF4-FFF2-40B4-BE49-F238E27FC236}">
                <a16:creationId xmlns:a16="http://schemas.microsoft.com/office/drawing/2014/main" id="{2A875975-E9DC-A34D-C4F0-21BA32236A3D}"/>
              </a:ext>
            </a:extLst>
          </p:cNvPr>
          <p:cNvSpPr/>
          <p:nvPr/>
        </p:nvSpPr>
        <p:spPr>
          <a:xfrm>
            <a:off x="5614269" y="2028534"/>
            <a:ext cx="3840480" cy="914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963C605-474E-5684-2C6C-EFFD6516BC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222" y="3602636"/>
            <a:ext cx="4413629" cy="403611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9CCC008-DE07-669E-E29D-0D1CE90C4CA7}"/>
              </a:ext>
            </a:extLst>
          </p:cNvPr>
          <p:cNvSpPr/>
          <p:nvPr/>
        </p:nvSpPr>
        <p:spPr>
          <a:xfrm>
            <a:off x="5400042" y="1371706"/>
            <a:ext cx="4448811" cy="62839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Google Shape;96;p13">
            <a:extLst>
              <a:ext uri="{FF2B5EF4-FFF2-40B4-BE49-F238E27FC236}">
                <a16:creationId xmlns:a16="http://schemas.microsoft.com/office/drawing/2014/main" id="{96CD3023-3FB3-D8C5-4F23-3FDB57093CE0}"/>
              </a:ext>
            </a:extLst>
          </p:cNvPr>
          <p:cNvSpPr txBox="1"/>
          <p:nvPr/>
        </p:nvSpPr>
        <p:spPr>
          <a:xfrm>
            <a:off x="10181589" y="1615587"/>
            <a:ext cx="444881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204E"/>
                </a:solidFill>
                <a:latin typeface="Merriweather"/>
                <a:ea typeface="Merriweather"/>
                <a:cs typeface="Merriweather"/>
                <a:sym typeface="Merriweather"/>
              </a:rPr>
              <a:t>Key Finding/ Insights </a:t>
            </a:r>
            <a:endParaRPr sz="2800" dirty="0"/>
          </a:p>
        </p:txBody>
      </p:sp>
      <p:sp>
        <p:nvSpPr>
          <p:cNvPr id="33" name="Google Shape;115;p13">
            <a:extLst>
              <a:ext uri="{FF2B5EF4-FFF2-40B4-BE49-F238E27FC236}">
                <a16:creationId xmlns:a16="http://schemas.microsoft.com/office/drawing/2014/main" id="{44A786AA-9C35-412C-4698-C99ED7D9D510}"/>
              </a:ext>
            </a:extLst>
          </p:cNvPr>
          <p:cNvSpPr txBox="1"/>
          <p:nvPr/>
        </p:nvSpPr>
        <p:spPr>
          <a:xfrm>
            <a:off x="10054468" y="2070836"/>
            <a:ext cx="398275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rgbClr val="00204E"/>
                </a:solidFill>
                <a:latin typeface="DM Sans"/>
                <a:ea typeface="DM Sans"/>
                <a:cs typeface="DM Sans"/>
                <a:sym typeface="DM Sans"/>
              </a:rPr>
              <a:t>Rainfall shows no long-term trend, but strong year-to-year variability.</a:t>
            </a:r>
            <a:endParaRPr sz="2400" b="1" dirty="0"/>
          </a:p>
        </p:txBody>
      </p:sp>
      <p:sp>
        <p:nvSpPr>
          <p:cNvPr id="34" name="Google Shape;117;p13">
            <a:extLst>
              <a:ext uri="{FF2B5EF4-FFF2-40B4-BE49-F238E27FC236}">
                <a16:creationId xmlns:a16="http://schemas.microsoft.com/office/drawing/2014/main" id="{22086815-90C1-8D0A-9B2C-C13CC1D4A2DB}"/>
              </a:ext>
            </a:extLst>
          </p:cNvPr>
          <p:cNvSpPr txBox="1"/>
          <p:nvPr/>
        </p:nvSpPr>
        <p:spPr>
          <a:xfrm>
            <a:off x="10053672" y="2548217"/>
            <a:ext cx="4294068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accent1">
                    <a:lumMod val="50000"/>
                  </a:schemeClr>
                </a:solidFill>
              </a:rPr>
              <a:t>Livestock respond differently to climate variability</a:t>
            </a:r>
            <a:r>
              <a:rPr lang="en-US" sz="1350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350" b="1" dirty="0"/>
              <a:t>Camels increasing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50" b="1" dirty="0"/>
              <a:t>Goats declining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50" b="1" dirty="0"/>
              <a:t>Cattle relatively stable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9590BC2-5D15-2516-5784-E19025D662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958" y="3468064"/>
            <a:ext cx="4294068" cy="4111593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0DA7E42C-B974-8988-A912-FD918E8C6D21}"/>
              </a:ext>
            </a:extLst>
          </p:cNvPr>
          <p:cNvSpPr/>
          <p:nvPr/>
        </p:nvSpPr>
        <p:spPr>
          <a:xfrm>
            <a:off x="10022038" y="1392027"/>
            <a:ext cx="4448811" cy="62636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577348-961B-ACDF-793F-37EA6E098EA0}"/>
              </a:ext>
            </a:extLst>
          </p:cNvPr>
          <p:cNvSpPr/>
          <p:nvPr/>
        </p:nvSpPr>
        <p:spPr>
          <a:xfrm>
            <a:off x="189111" y="7921313"/>
            <a:ext cx="14236915" cy="29446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DB1A77-EC92-17EF-2EAD-B27C642C96C5}"/>
              </a:ext>
            </a:extLst>
          </p:cNvPr>
          <p:cNvSpPr txBox="1"/>
          <p:nvPr/>
        </p:nvSpPr>
        <p:spPr>
          <a:xfrm>
            <a:off x="393342" y="7723148"/>
            <a:ext cx="5821478" cy="409485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dk2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Interpretation / Implications</a:t>
            </a:r>
            <a:endParaRPr sz="2000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CA2323-53C9-A746-2285-F4EB3CB4BEBB}"/>
              </a:ext>
            </a:extLst>
          </p:cNvPr>
          <p:cNvSpPr txBox="1"/>
          <p:nvPr/>
        </p:nvSpPr>
        <p:spPr>
          <a:xfrm>
            <a:off x="254869" y="8404960"/>
            <a:ext cx="72561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4E"/>
                </a:solidFill>
                <a:latin typeface="DM Sans"/>
              </a:rPr>
              <a:t>Livestock trends reflect climate plus markets, conflict, and pastoral mobility.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107BAD-9013-BC0C-8A7B-A5705CFC1AD1}"/>
              </a:ext>
            </a:extLst>
          </p:cNvPr>
          <p:cNvSpPr txBox="1"/>
          <p:nvPr/>
        </p:nvSpPr>
        <p:spPr>
          <a:xfrm>
            <a:off x="266343" y="8959736"/>
            <a:ext cx="68234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4E"/>
                </a:solidFill>
                <a:latin typeface="DM Sans"/>
              </a:rPr>
              <a:t>National rainfall averages may hide important regional climate impacts.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24ED7D9-AB53-C43B-B29C-C244806688AB}"/>
              </a:ext>
            </a:extLst>
          </p:cNvPr>
          <p:cNvSpPr txBox="1"/>
          <p:nvPr/>
        </p:nvSpPr>
        <p:spPr>
          <a:xfrm>
            <a:off x="337949" y="9560527"/>
            <a:ext cx="69772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4E"/>
                </a:solidFill>
                <a:latin typeface="DM Sans"/>
              </a:rPr>
              <a:t>Future work should integrate regional climate indicators and socio-economic data.</a:t>
            </a:r>
            <a:endParaRPr lang="en-US" sz="2000" b="1" dirty="0"/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3058D9ED-F027-6002-4607-58D1BBA42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11" y="3892157"/>
            <a:ext cx="4965700" cy="3746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90;p13">
            <a:extLst>
              <a:ext uri="{FF2B5EF4-FFF2-40B4-BE49-F238E27FC236}">
                <a16:creationId xmlns:a16="http://schemas.microsoft.com/office/drawing/2014/main" id="{AD78BBE7-9399-12E3-EAB2-735FA22F752E}"/>
              </a:ext>
            </a:extLst>
          </p:cNvPr>
          <p:cNvSpPr txBox="1"/>
          <p:nvPr/>
        </p:nvSpPr>
        <p:spPr>
          <a:xfrm>
            <a:off x="12872669" y="1083066"/>
            <a:ext cx="19966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600" dirty="0">
                <a:solidFill>
                  <a:srgbClr val="00204E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2783961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456</TotalTime>
  <Words>183</Words>
  <Application>Microsoft Office PowerPoint</Application>
  <PresentationFormat>Custom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DM Sans</vt:lpstr>
      <vt:lpstr>DM Sans Medium</vt:lpstr>
      <vt:lpstr>Merriweather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Said</dc:creator>
  <cp:lastModifiedBy>Mohamed Said</cp:lastModifiedBy>
  <cp:revision>3</cp:revision>
  <dcterms:created xsi:type="dcterms:W3CDTF">2026-03-10T16:06:01Z</dcterms:created>
  <dcterms:modified xsi:type="dcterms:W3CDTF">2026-03-23T08:36:31Z</dcterms:modified>
</cp:coreProperties>
</file>